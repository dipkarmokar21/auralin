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4088" cy="54864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-457200"/>
            <a:ext cx="5029200" cy="502920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38160" y="-91440"/>
            <a:ext cx="4297680" cy="4297680"/>
          </a:xfrm>
          <a:prstGeom prst="rect">
            <a:avLst/>
          </a:prstGeom>
          <a:solidFill>
            <a:srgbClr val="09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0" y="274320"/>
            <a:ext cx="3566160" cy="356616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69680" y="640080"/>
            <a:ext cx="2834640" cy="2834640"/>
          </a:xfrm>
          <a:prstGeom prst="rect">
            <a:avLst/>
          </a:prstGeom>
          <a:solidFill>
            <a:srgbClr val="09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73152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FA2D48"/>
                </a:solidFill>
                <a:latin typeface="Calibri"/>
              </a:rPr>
              <a:t>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45920"/>
            <a:ext cx="73152" cy="2560320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54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00" b="1" i="0">
                <a:solidFill>
                  <a:srgbClr val="FFFFFF"/>
                </a:solidFill>
                <a:latin typeface="Calibri"/>
              </a:rPr>
              <a:t>AURALIN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346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A2D48"/>
                </a:solidFill>
                <a:latin typeface="Calibri"/>
              </a:rPr>
              <a:t>MUSIC PLAYER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749039"/>
            <a:ext cx="5943600" cy="45720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886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9494A8"/>
                </a:solidFill>
                <a:latin typeface="Calibri Light"/>
              </a:rPr>
              <a:t>A Modern JavaFX Desktop Music 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4348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94A8"/>
                </a:solidFill>
                <a:latin typeface="Calibri Light"/>
              </a:rPr>
              <a:t>Dip Karmokar   |   OOP Project   |  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035040"/>
            <a:ext cx="12188952" cy="768096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035040"/>
            <a:ext cx="12188952" cy="45720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12648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94A8"/>
                </a:solidFill>
                <a:latin typeface="Calibri Light"/>
              </a:rPr>
              <a:t>JavaFX 25   ·   mp3agic   ·   MVC Architecture   ·   Windows Installer   ·   Bundled JRE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" fill="hold">
                      <p:stCondLst>
                        <p:cond delay="15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" dur="5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" fill="hold">
                      <p:stCondLst>
                        <p:cond delay="300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" dur="5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45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5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/>
              <p:nextCondLst>
                <p:cond evt="onNext" delay="0">
                  <p:tn val="2"/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4088" cy="54864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" y="6492240"/>
            <a:ext cx="12134088" cy="310896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94A8"/>
                </a:solidFill>
                <a:latin typeface="Calibri Light"/>
              </a:rPr>
              <a:t>Auralin Music Player  |  Dip Karmokar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80467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94A8"/>
                </a:solidFill>
                <a:latin typeface="Calibri Light"/>
              </a:rPr>
              <a:t>What we'll cover today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15568"/>
            <a:ext cx="11640312" cy="36576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0" y="6528816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94A8"/>
                </a:solidFill>
                <a:latin typeface="Calibri Light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280160"/>
            <a:ext cx="5577840" cy="105156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280160"/>
            <a:ext cx="54864" cy="1051560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55448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01  Introduction &amp; Motivation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5577840" cy="105156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280160"/>
            <a:ext cx="54864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5448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02  System Architecture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14600"/>
            <a:ext cx="5577840" cy="105156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2514600"/>
            <a:ext cx="54864" cy="1051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7889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03  Key Features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514600"/>
            <a:ext cx="5577840" cy="105156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514600"/>
            <a:ext cx="54864" cy="1051560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7889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04  Implementation &amp; Patterns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749039"/>
            <a:ext cx="5577840" cy="105156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749039"/>
            <a:ext cx="54864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023359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05  Data Persistence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749039"/>
            <a:ext cx="5577840" cy="105156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749039"/>
            <a:ext cx="54864" cy="1051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023359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06  UI/UX Design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983480"/>
            <a:ext cx="5577840" cy="105156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4983480"/>
            <a:ext cx="54864" cy="1051560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257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07  Challenges &amp; Solutions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983480"/>
            <a:ext cx="5577840" cy="105156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4983480"/>
            <a:ext cx="54864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5257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08  Conclusion &amp; Future Work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" fill="hold">
                      <p:stCondLst>
                        <p:cond delay="10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" dur="5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" fill="hold">
                      <p:stCondLst>
                        <p:cond delay="200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" dur="5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30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50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40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" dur="500" fill="hold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50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0" dur="500" fill="hold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60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500" fill="hold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70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2" dur="50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/>
              <p:nextCondLst>
                <p:cond evt="onNext" delay="0">
                  <p:tn val="2"/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4088" cy="54864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" y="6492240"/>
            <a:ext cx="12134088" cy="310896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94A8"/>
                </a:solidFill>
                <a:latin typeface="Calibri Light"/>
              </a:rPr>
              <a:t>Auralin Music Player  |  Dip Karmokar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80467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94A8"/>
                </a:solidFill>
                <a:latin typeface="Calibri Light"/>
              </a:rPr>
              <a:t>What is Auralin Music Player?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15568"/>
            <a:ext cx="11640312" cy="36576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0" y="6528816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94A8"/>
                </a:solidFill>
                <a:latin typeface="Calibri Light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234440"/>
            <a:ext cx="5577840" cy="502920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5669280" cy="502920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234440"/>
            <a:ext cx="5577840" cy="45720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56692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3258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A2D48"/>
                </a:solidFill>
                <a:latin typeface="Calibri"/>
              </a:rPr>
              <a:t>What is Auralin?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3258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5CF6"/>
                </a:solidFill>
                <a:latin typeface="Calibri"/>
              </a:rPr>
              <a:t>Goals &amp;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78308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0">
                <a:solidFill>
                  <a:srgbClr val="FFFFFF"/>
                </a:solidFill>
                <a:latin typeface="Calibri Light"/>
              </a:rPr>
              <a:t>Modern desktop music player</a:t>
            </a:r>
          </a:p>
          <a:p>
            <a:pPr/>
            <a:r>
              <a:rPr sz="1600" b="0">
                <a:solidFill>
                  <a:srgbClr val="9494A8"/>
                </a:solidFill>
                <a:latin typeface="Calibri Light"/>
              </a:rPr>
              <a:t>Built with JavaFX 25 + Java</a:t>
            </a:r>
          </a:p>
          <a:p>
            <a:pPr/>
            <a:r>
              <a:rPr sz="1600" b="0">
                <a:solidFill>
                  <a:srgbClr val="9494A8"/>
                </a:solidFill>
                <a:latin typeface="Calibri Light"/>
              </a:rPr>
              <a:t>Inspired by Spotify dark UI</a:t>
            </a:r>
          </a:p>
          <a:p>
            <a:pPr/>
            <a:r>
              <a:rPr sz="1200" b="0">
                <a:solidFill>
                  <a:srgbClr val="9494A8"/>
                </a:solidFill>
                <a:latin typeface="Calibri Light"/>
              </a:rPr>
              <a:t/>
            </a:r>
          </a:p>
          <a:p>
            <a:pPr/>
            <a:r>
              <a:rPr sz="1500" b="1">
                <a:solidFill>
                  <a:srgbClr val="FA2D48"/>
                </a:solidFill>
                <a:latin typeface="Calibri"/>
              </a:rPr>
              <a:t>Motivation</a:t>
            </a:r>
          </a:p>
          <a:p>
            <a:pPr/>
            <a:r>
              <a:rPr sz="1500" b="0">
                <a:solidFill>
                  <a:srgbClr val="9494A8"/>
                </a:solidFill>
                <a:latin typeface="Calibri Light"/>
              </a:rPr>
              <a:t>Existing players lack modern UI</a:t>
            </a:r>
          </a:p>
          <a:p>
            <a:pPr/>
            <a:r>
              <a:rPr sz="1500" b="0">
                <a:solidFill>
                  <a:srgbClr val="9494A8"/>
                </a:solidFill>
                <a:latin typeface="Calibri Light"/>
              </a:rPr>
              <a:t>Deep dive into JavaFX MVC</a:t>
            </a:r>
          </a:p>
          <a:p>
            <a:pPr/>
            <a:r>
              <a:rPr sz="1200" b="0">
                <a:solidFill>
                  <a:srgbClr val="9494A8"/>
                </a:solidFill>
                <a:latin typeface="Calibri Light"/>
              </a:rPr>
              <a:t/>
            </a:r>
          </a:p>
          <a:p>
            <a:pPr/>
            <a:r>
              <a:rPr sz="1500" b="1">
                <a:solidFill>
                  <a:srgbClr val="FA2D48"/>
                </a:solidFill>
                <a:latin typeface="Calibri"/>
              </a:rPr>
              <a:t>Tech Stack</a:t>
            </a:r>
          </a:p>
          <a:p>
            <a:pPr/>
            <a:r>
              <a:rPr sz="1500" b="0">
                <a:solidFill>
                  <a:srgbClr val="9494A8"/>
                </a:solidFill>
                <a:latin typeface="Calibri Light"/>
              </a:rPr>
              <a:t>JavaFX 25, mp3agic, Inno Setup</a:t>
            </a:r>
          </a:p>
          <a:p>
            <a:pPr/>
            <a:r>
              <a:rPr sz="1500" b="0">
                <a:solidFill>
                  <a:srgbClr val="9494A8"/>
                </a:solidFill>
                <a:latin typeface="Calibri Light"/>
              </a:rPr>
              <a:t>launch4j, jlink bundled JRE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78308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0">
                <a:solidFill>
                  <a:srgbClr val="FFFFFF"/>
                </a:solidFill>
                <a:latin typeface="Calibri Light"/>
              </a:rPr>
              <a:t>Fast startup — no MediaPlayer on load</a:t>
            </a:r>
          </a:p>
          <a:p>
            <a:pPr/>
            <a:r>
              <a:rPr sz="1600" b="0">
                <a:solidFill>
                  <a:srgbClr val="9494A8"/>
                </a:solidFill>
                <a:latin typeface="Calibri Light"/>
              </a:rPr>
              <a:t>Persistent library across sessions</a:t>
            </a:r>
          </a:p>
          <a:p>
            <a:pPr/>
            <a:r>
              <a:rPr sz="1600" b="0">
                <a:solidFill>
                  <a:srgbClr val="9494A8"/>
                </a:solidFill>
                <a:latin typeface="Calibri Light"/>
              </a:rPr>
              <a:t>Open With — default MP3 player</a:t>
            </a:r>
          </a:p>
          <a:p>
            <a:pPr/>
            <a:r>
              <a:rPr sz="1600" b="0">
                <a:solidFill>
                  <a:srgbClr val="9494A8"/>
                </a:solidFill>
                <a:latin typeface="Calibri Light"/>
              </a:rPr>
              <a:t>Custom frameless Win11 window</a:t>
            </a:r>
          </a:p>
          <a:p>
            <a:pPr/>
            <a:r>
              <a:rPr sz="1200" b="0">
                <a:solidFill>
                  <a:srgbClr val="9494A8"/>
                </a:solidFill>
                <a:latin typeface="Calibri Light"/>
              </a:rPr>
              <a:t/>
            </a:r>
          </a:p>
          <a:p>
            <a:pPr/>
            <a:r>
              <a:rPr sz="1500" b="1">
                <a:solidFill>
                  <a:srgbClr val="8B5CF6"/>
                </a:solidFill>
                <a:latin typeface="Calibri"/>
              </a:rPr>
              <a:t>Deliverables</a:t>
            </a:r>
          </a:p>
          <a:p>
            <a:pPr/>
            <a:r>
              <a:rPr sz="1500" b="0">
                <a:solidFill>
                  <a:srgbClr val="9494A8"/>
                </a:solidFill>
                <a:latin typeface="Calibri Light"/>
              </a:rPr>
              <a:t>Runnable .exe installer</a:t>
            </a:r>
          </a:p>
          <a:p>
            <a:pPr/>
            <a:r>
              <a:rPr sz="1500" b="0">
                <a:solidFill>
                  <a:srgbClr val="9494A8"/>
                </a:solidFill>
                <a:latin typeface="Calibri Light"/>
              </a:rPr>
              <a:t>Bundled JRE — no Java needed</a:t>
            </a:r>
          </a:p>
          <a:p>
            <a:pPr/>
            <a:r>
              <a:rPr sz="1500" b="0">
                <a:solidFill>
                  <a:srgbClr val="9494A8"/>
                </a:solidFill>
                <a:latin typeface="Calibri Light"/>
              </a:rPr>
              <a:t>Full MVC architecture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" fill="hold">
                      <p:stCondLst>
                        <p:cond delay="10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" dur="5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" fill="hold">
                      <p:stCondLst>
                        <p:cond delay="200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" dur="5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30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50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/>
              <p:nextCondLst>
                <p:cond evt="onNext" delay="0">
                  <p:tn val="2"/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4088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" y="6492240"/>
            <a:ext cx="12134088" cy="310896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94A8"/>
                </a:solidFill>
                <a:latin typeface="Calibri Light"/>
              </a:rPr>
              <a:t>Auralin Music Player  |  Dip Karmokar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80467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94A8"/>
                </a:solidFill>
                <a:latin typeface="Calibri Light"/>
              </a:rPr>
              <a:t>MVC + Observer + Facade + Strategy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15568"/>
            <a:ext cx="11640312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0" y="6528816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94A8"/>
                </a:solidFill>
                <a:latin typeface="Calibri Light"/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234440"/>
            <a:ext cx="3566160" cy="502920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234440"/>
            <a:ext cx="3566160" cy="45720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34416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A2D48"/>
                </a:solidFill>
                <a:latin typeface="Calibri"/>
              </a:rPr>
              <a:t>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79" y="1828800"/>
            <a:ext cx="3291840" cy="27432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19202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94A8"/>
                </a:solidFill>
                <a:latin typeface="Calibri Light"/>
              </a:rPr>
              <a:t>  Song.java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2578608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94A8"/>
                </a:solidFill>
                <a:latin typeface="Calibri Light"/>
              </a:rPr>
              <a:t>  title, artist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3236976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94A8"/>
                </a:solidFill>
                <a:latin typeface="Calibri Light"/>
              </a:rPr>
              <a:t>  filePath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3895344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94A8"/>
                </a:solidFill>
                <a:latin typeface="Calibri Light"/>
              </a:rPr>
              <a:t>  liked, plays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4553712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94A8"/>
                </a:solidFill>
                <a:latin typeface="Calibri Light"/>
              </a:rPr>
              <a:t>  lastPlayed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521207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94A8"/>
                </a:solidFill>
                <a:latin typeface="Calibri Light"/>
              </a:rPr>
              <a:t>  getDurationStr()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1234440"/>
            <a:ext cx="3566160" cy="502920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1234440"/>
            <a:ext cx="356616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134416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8B5CF6"/>
                </a:solidFill>
                <a:latin typeface="Calibri"/>
              </a:rPr>
              <a:t>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1828800"/>
            <a:ext cx="3291840" cy="27432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19202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94A8"/>
                </a:solidFill>
                <a:latin typeface="Calibri Light"/>
              </a:rPr>
              <a:t>  HomeView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2578608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94A8"/>
                </a:solidFill>
                <a:latin typeface="Calibri Light"/>
              </a:rPr>
              <a:t>  LibraryView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3236976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94A8"/>
                </a:solidFill>
                <a:latin typeface="Calibri Light"/>
              </a:rPr>
              <a:t>  SearchView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3895344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94A8"/>
                </a:solidFill>
                <a:latin typeface="Calibri Light"/>
              </a:rPr>
              <a:t>  LikedView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553712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94A8"/>
                </a:solidFill>
                <a:latin typeface="Calibri Light"/>
              </a:rPr>
              <a:t>  SongTable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521207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94A8"/>
                </a:solidFill>
                <a:latin typeface="Calibri Light"/>
              </a:rPr>
              <a:t>  PlayerBar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870448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94A8"/>
                </a:solidFill>
                <a:latin typeface="Calibri Light"/>
              </a:rPr>
              <a:t>  Sidebar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6528816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94A8"/>
                </a:solidFill>
                <a:latin typeface="Calibri Light"/>
              </a:rPr>
              <a:t>  NowPlayingView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1234440"/>
            <a:ext cx="3566160" cy="502920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21040" y="1234440"/>
            <a:ext cx="356616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58200" y="134416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6B6D4"/>
                </a:solidFill>
                <a:latin typeface="Calibri"/>
              </a:rPr>
              <a:t>CONTROLLER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58200" y="1828800"/>
            <a:ext cx="3291840" cy="27432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58200" y="19202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94A8"/>
                </a:solidFill>
                <a:latin typeface="Calibri Light"/>
              </a:rPr>
              <a:t>  PlayerController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2578608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94A8"/>
                </a:solidFill>
                <a:latin typeface="Calibri Light"/>
              </a:rPr>
              <a:t>  ViewManager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58200" y="3236976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94A8"/>
                </a:solidFill>
                <a:latin typeface="Calibri Light"/>
              </a:rPr>
              <a:t>  DatabaseService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3895344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94A8"/>
                </a:solidFill>
                <a:latin typeface="Calibri Light"/>
              </a:rPr>
              <a:t>  FileImportService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4553712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94A8"/>
                </a:solidFill>
                <a:latin typeface="Calibri Light"/>
              </a:rPr>
              <a:t>  PlayerBar.Listener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521207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94A8"/>
                </a:solidFill>
                <a:latin typeface="Calibri Light"/>
              </a:rPr>
              <a:t>  MusicCard.Listener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94760" y="34747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&lt;-&gt;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34747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&lt;-&gt;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" fill="hold">
                      <p:stCondLst>
                        <p:cond delay="20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" dur="500" fill="hold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" fill="hold">
                      <p:stCondLst>
                        <p:cond delay="200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" dur="50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/>
              <p:nextCondLst>
                <p:cond evt="onNext" delay="0">
                  <p:tn val="2"/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4088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" y="6492240"/>
            <a:ext cx="12134088" cy="310896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94A8"/>
                </a:solidFill>
                <a:latin typeface="Calibri Light"/>
              </a:rPr>
              <a:t>Auralin Music Player  |  Dip Karmokar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Key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80467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94A8"/>
                </a:solidFill>
                <a:latin typeface="Calibri Light"/>
              </a:rPr>
              <a:t>Everything Auralin can 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15568"/>
            <a:ext cx="11640312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0" y="6528816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94A8"/>
                </a:solidFill>
                <a:latin typeface="Calibri Light"/>
              </a:rP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234440"/>
            <a:ext cx="2743200" cy="210312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234440"/>
            <a:ext cx="2743200" cy="45720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291840"/>
            <a:ext cx="2743200" cy="45720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1399032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A2D48"/>
                </a:solidFill>
                <a:latin typeface="Calibri"/>
              </a:rPr>
              <a:t>Library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198424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94A8"/>
                </a:solidFill>
                <a:latin typeface="Calibri Light"/>
              </a:rPr>
              <a:t>Add files &amp; folders, ID3 tags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1234440"/>
            <a:ext cx="2743200" cy="210312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46120" y="1234440"/>
            <a:ext cx="274320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46120" y="3291840"/>
            <a:ext cx="274320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79" y="1399032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5CF6"/>
                </a:solidFill>
                <a:latin typeface="Calibri"/>
              </a:rPr>
              <a:t>Real-time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79" y="198424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94A8"/>
                </a:solidFill>
                <a:latin typeface="Calibri Light"/>
              </a:rPr>
              <a:t>Filter songs instantly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234440"/>
            <a:ext cx="2743200" cy="210312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234440"/>
            <a:ext cx="27432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291840"/>
            <a:ext cx="27432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1399032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  <a:latin typeface="Calibri"/>
              </a:rPr>
              <a:t>Liked Songs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198424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94A8"/>
                </a:solidFill>
                <a:latin typeface="Calibri Light"/>
              </a:rPr>
              <a:t>Heart toggle + persistent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9720" y="1234440"/>
            <a:ext cx="2743200" cy="210312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89720" y="1234440"/>
            <a:ext cx="2743200" cy="45720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89720" y="3291840"/>
            <a:ext cx="2743200" cy="45720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0" y="1399032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A2D48"/>
                </a:solidFill>
                <a:latin typeface="Calibri"/>
              </a:rPr>
              <a:t>Home 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198424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94A8"/>
                </a:solidFill>
                <a:latin typeface="Calibri Light"/>
              </a:rPr>
              <a:t>Recent + Recommended grids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611880"/>
            <a:ext cx="2743200" cy="210312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3611880"/>
            <a:ext cx="274320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5669280"/>
            <a:ext cx="274320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79" y="3776472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5CF6"/>
                </a:solidFill>
                <a:latin typeface="Calibri"/>
              </a:rPr>
              <a:t>Now Playing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79" y="436168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94A8"/>
                </a:solidFill>
                <a:latin typeface="Calibri Light"/>
              </a:rPr>
              <a:t>Full-screen artwork overlay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46120" y="3611880"/>
            <a:ext cx="2743200" cy="210312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46120" y="3611880"/>
            <a:ext cx="27432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46120" y="5669280"/>
            <a:ext cx="27432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83279" y="3776472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  <a:latin typeface="Calibri"/>
              </a:rPr>
              <a:t>Auto-Save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79" y="436168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94A8"/>
                </a:solidFill>
                <a:latin typeface="Calibri Light"/>
              </a:rPr>
              <a:t>Library persists on restart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3611880"/>
            <a:ext cx="2743200" cy="210312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3611880"/>
            <a:ext cx="2743200" cy="45720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5669280"/>
            <a:ext cx="2743200" cy="45720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3776472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A2D48"/>
                </a:solidFill>
                <a:latin typeface="Calibri"/>
              </a:rPr>
              <a:t>Open With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436168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94A8"/>
                </a:solidFill>
                <a:latin typeface="Calibri Light"/>
              </a:rPr>
              <a:t>Register as default MP3 player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89720" y="3611880"/>
            <a:ext cx="2743200" cy="210312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189720" y="3611880"/>
            <a:ext cx="274320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189720" y="5669280"/>
            <a:ext cx="274320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26880" y="3776472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5CF6"/>
                </a:solidFill>
                <a:latin typeface="Calibri"/>
              </a:rPr>
              <a:t>Custom Window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6880" y="436168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94A8"/>
                </a:solidFill>
                <a:latin typeface="Calibri Light"/>
              </a:rPr>
              <a:t>Frameless + Win11 controls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" fill="hold">
                      <p:stCondLst>
                        <p:cond delay="8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" dur="5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" fill="hold">
                      <p:stCondLst>
                        <p:cond delay="160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" dur="500" fill="hold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24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500" fill="hold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32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" dur="50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40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0" dur="500" fill="hold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48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500" fill="hold"/>
                                  <p:tgtEl>
                                    <p:spTgt spid="4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56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2" dur="500" fill="hold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/>
              <p:nextCondLst>
                <p:cond evt="onNext" delay="0">
                  <p:tn val="2"/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4088" cy="54864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" y="6492240"/>
            <a:ext cx="12134088" cy="310896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94A8"/>
                </a:solidFill>
                <a:latin typeface="Calibri Light"/>
              </a:rPr>
              <a:t>Auralin Music Player  |  Dip Karmokar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Home View &amp; Library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80467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94A8"/>
                </a:solidFill>
                <a:latin typeface="Calibri Light"/>
              </a:rPr>
              <a:t>Screenshots from Auralin Music Player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15568"/>
            <a:ext cx="11640312" cy="36576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0" y="6528816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94A8"/>
                </a:solidFill>
                <a:latin typeface="Calibri Light"/>
              </a:rPr>
              <a:t>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234440"/>
            <a:ext cx="5577840" cy="502920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5669280" cy="502920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234440"/>
            <a:ext cx="5577840" cy="45720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56692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5394960" cy="3749039"/>
          </a:xfrm>
          <a:prstGeom prst="rect">
            <a:avLst/>
          </a:prstGeom>
        </p:spPr>
      </p:pic>
      <p:pic>
        <p:nvPicPr>
          <p:cNvPr id="17" name="Picture 16" descr=" (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25880"/>
            <a:ext cx="5394960" cy="37490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4320" y="51663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494A8"/>
                </a:solidFill>
                <a:latin typeface="Calibri Light"/>
              </a:rPr>
              <a:t>Home View — Recently Played &amp; Recommendations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1663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494A8"/>
                </a:solidFill>
                <a:latin typeface="Calibri Light"/>
              </a:rPr>
              <a:t>Library View — Song Table with Artwork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" fill="hold">
                      <p:stCondLst>
                        <p:cond delay="40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" dur="5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/>
              <p:nextCondLst>
                <p:cond evt="onNext" delay="0">
                  <p:tn val="2"/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4088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" y="6492240"/>
            <a:ext cx="12134088" cy="310896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94A8"/>
                </a:solidFill>
                <a:latin typeface="Calibri Light"/>
              </a:rPr>
              <a:t>Auralin Music Player  |  Dip Karmokar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Now Playing &amp; Liked Songs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80467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94A8"/>
                </a:solidFill>
                <a:latin typeface="Calibri Light"/>
              </a:rPr>
              <a:t>Full-screen overlay and liked songs 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15568"/>
            <a:ext cx="11640312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0" y="6528816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94A8"/>
                </a:solidFill>
                <a:latin typeface="Calibri Light"/>
              </a:rPr>
              <a:t>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234440"/>
            <a:ext cx="5577840" cy="502920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5669280" cy="502920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234440"/>
            <a:ext cx="557784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5669280" cy="45720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 (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5394960" cy="3749039"/>
          </a:xfrm>
          <a:prstGeom prst="rect">
            <a:avLst/>
          </a:prstGeom>
        </p:spPr>
      </p:pic>
      <p:pic>
        <p:nvPicPr>
          <p:cNvPr id="17" name="Picture 16" descr=" (4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25880"/>
            <a:ext cx="5394960" cy="37490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4320" y="51663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494A8"/>
                </a:solidFill>
                <a:latin typeface="Calibri Light"/>
              </a:rPr>
              <a:t>Now Playing — Full-screen artwork overlay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1663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494A8"/>
                </a:solidFill>
                <a:latin typeface="Calibri Light"/>
              </a:rPr>
              <a:t>Liked Songs — Filtered heart-toggled songs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" fill="hold">
                      <p:stCondLst>
                        <p:cond delay="40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" dur="5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/>
              <p:nextCondLst>
                <p:cond evt="onNext" delay="0">
                  <p:tn val="2"/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4088" cy="54864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" y="6492240"/>
            <a:ext cx="12134088" cy="310896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94A8"/>
                </a:solidFill>
                <a:latin typeface="Calibri Light"/>
              </a:rPr>
              <a:t>Auralin Music Player  |  Dip Karmokar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Music Playback &amp;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80467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94A8"/>
                </a:solidFill>
                <a:latin typeface="Calibri Light"/>
              </a:rPr>
              <a:t>PlayerController + PlayerBar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15568"/>
            <a:ext cx="11640312" cy="36576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0" y="6528816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94A8"/>
                </a:solidFill>
                <a:latin typeface="Calibri Light"/>
              </a:rPr>
              <a:t>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234440"/>
            <a:ext cx="5577840" cy="502920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5669280" cy="502920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234440"/>
            <a:ext cx="5577840" cy="45720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56692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3258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A2D48"/>
                </a:solidFill>
                <a:latin typeface="Calibri"/>
              </a:rPr>
              <a:t>PlayerController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3258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5CF6"/>
                </a:solidFill>
                <a:latin typeface="Calibri"/>
              </a:rPr>
              <a:t>PlayerBar Component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78308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FFFFFF"/>
                </a:solidFill>
                <a:latin typeface="Calibri Light"/>
              </a:rPr>
              <a:t>JavaFX MediaPlayer for audio</a:t>
            </a:r>
          </a:p>
          <a:p>
            <a:pPr/>
            <a:r>
              <a:rPr sz="1500" b="0">
                <a:solidFill>
                  <a:srgbClr val="9494A8"/>
                </a:solidFill>
                <a:latin typeface="Calibri Light"/>
              </a:rPr>
              <a:t>Play / Pause / Next / Previous</a:t>
            </a:r>
          </a:p>
          <a:p>
            <a:pPr/>
            <a:r>
              <a:rPr sz="1500" b="0">
                <a:solidFill>
                  <a:srgbClr val="9494A8"/>
                </a:solidFill>
                <a:latin typeface="Calibri Light"/>
              </a:rPr>
              <a:t>Shuffle — random song selection</a:t>
            </a:r>
          </a:p>
          <a:p>
            <a:pPr/>
            <a:r>
              <a:rPr sz="1500" b="0">
                <a:solidFill>
                  <a:srgbClr val="9494A8"/>
                </a:solidFill>
                <a:latin typeface="Calibri Light"/>
              </a:rPr>
              <a:t>Repeat — loop current song</a:t>
            </a:r>
          </a:p>
          <a:p>
            <a:pPr/>
            <a:r>
              <a:rPr sz="1500" b="0">
                <a:solidFill>
                  <a:srgbClr val="9494A8"/>
                </a:solidFill>
                <a:latin typeface="Calibri Light"/>
              </a:rPr>
              <a:t>Seek bar — jump to position</a:t>
            </a:r>
          </a:p>
          <a:p>
            <a:pPr/>
            <a:r>
              <a:rPr sz="1500" b="0">
                <a:solidFill>
                  <a:srgbClr val="9494A8"/>
                </a:solidFill>
                <a:latin typeface="Calibri Light"/>
              </a:rPr>
              <a:t>Volume control slider</a:t>
            </a:r>
          </a:p>
          <a:p>
            <a:pPr/>
            <a:r>
              <a:rPr sz="1200" b="0">
                <a:solidFill>
                  <a:srgbClr val="9494A8"/>
                </a:solidFill>
                <a:latin typeface="Calibri Light"/>
              </a:rPr>
              <a:t/>
            </a:r>
          </a:p>
          <a:p>
            <a:pPr/>
            <a:r>
              <a:rPr sz="1400" b="1">
                <a:solidFill>
                  <a:srgbClr val="FA2D48"/>
                </a:solidFill>
                <a:latin typeface="Calibri"/>
              </a:rPr>
              <a:t>Callbacks</a:t>
            </a:r>
          </a:p>
          <a:p>
            <a:pPr/>
            <a:r>
              <a:rPr sz="1400" b="0">
                <a:solidFill>
                  <a:srgbClr val="9494A8"/>
                </a:solidFill>
                <a:latin typeface="Calibri Light"/>
              </a:rPr>
              <a:t>onSongChange, onLikeChange</a:t>
            </a:r>
          </a:p>
          <a:p>
            <a:pPr/>
            <a:r>
              <a:rPr sz="1400" b="0">
                <a:solidFill>
                  <a:srgbClr val="9494A8"/>
                </a:solidFill>
                <a:latin typeface="Calibri Light"/>
              </a:rPr>
              <a:t>onPlayStateChange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78308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FFFFFF"/>
                </a:solidFill>
                <a:latin typeface="Calibri Light"/>
              </a:rPr>
              <a:t>Always visible at bottom</a:t>
            </a:r>
          </a:p>
          <a:p>
            <a:pPr/>
            <a:r>
              <a:rPr sz="1500" b="0">
                <a:solidFill>
                  <a:srgbClr val="9494A8"/>
                </a:solidFill>
                <a:latin typeface="Calibri Light"/>
              </a:rPr>
              <a:t>Shows artwork thumbnail</a:t>
            </a:r>
          </a:p>
          <a:p>
            <a:pPr/>
            <a:r>
              <a:rPr sz="1500" b="0">
                <a:solidFill>
                  <a:srgbClr val="9494A8"/>
                </a:solidFill>
                <a:latin typeface="Calibri Light"/>
              </a:rPr>
              <a:t>Song title + artist name</a:t>
            </a:r>
          </a:p>
          <a:p>
            <a:pPr/>
            <a:r>
              <a:rPr sz="1500" b="0">
                <a:solidFill>
                  <a:srgbClr val="9494A8"/>
                </a:solidFill>
                <a:latin typeface="Calibri Light"/>
              </a:rPr>
              <a:t>Progress bar with time</a:t>
            </a:r>
          </a:p>
          <a:p>
            <a:pPr/>
            <a:r>
              <a:rPr sz="1500" b="0">
                <a:solidFill>
                  <a:srgbClr val="9494A8"/>
                </a:solidFill>
                <a:latin typeface="Calibri Light"/>
              </a:rPr>
              <a:t>Heart button for like/unlike</a:t>
            </a:r>
          </a:p>
          <a:p>
            <a:pPr/>
            <a:r>
              <a:rPr sz="1500" b="0">
                <a:solidFill>
                  <a:srgbClr val="9494A8"/>
                </a:solidFill>
                <a:latin typeface="Calibri Light"/>
              </a:rPr>
              <a:t>Volume slider</a:t>
            </a:r>
          </a:p>
          <a:p>
            <a:pPr/>
            <a:r>
              <a:rPr sz="1200" b="0">
                <a:solidFill>
                  <a:srgbClr val="9494A8"/>
                </a:solidFill>
                <a:latin typeface="Calibri Light"/>
              </a:rPr>
              <a:t/>
            </a:r>
          </a:p>
          <a:p>
            <a:pPr/>
            <a:r>
              <a:rPr sz="1400" b="1">
                <a:solidFill>
                  <a:srgbClr val="8B5CF6"/>
                </a:solidFill>
                <a:latin typeface="Calibri"/>
              </a:rPr>
              <a:t>Design</a:t>
            </a:r>
          </a:p>
          <a:p>
            <a:pPr/>
            <a:r>
              <a:rPr sz="1400" b="0">
                <a:solidFill>
                  <a:srgbClr val="9494A8"/>
                </a:solidFill>
                <a:latin typeface="Calibri Light"/>
              </a:rPr>
              <a:t>Listener interface pattern</a:t>
            </a:r>
          </a:p>
          <a:p>
            <a:pPr/>
            <a:r>
              <a:rPr sz="1400" b="0">
                <a:solidFill>
                  <a:srgbClr val="9494A8"/>
                </a:solidFill>
                <a:latin typeface="Calibri Light"/>
              </a:rPr>
              <a:t>Decoupled from controller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" fill="hold">
                      <p:stCondLst>
                        <p:cond delay="10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" dur="5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" fill="hold">
                      <p:stCondLst>
                        <p:cond delay="200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" dur="5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30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50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/>
              <p:nextCondLst>
                <p:cond evt="onNext" delay="0">
                  <p:tn val="2"/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4088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" y="6492240"/>
            <a:ext cx="12134088" cy="310896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94A8"/>
                </a:solidFill>
                <a:latin typeface="Calibri Light"/>
              </a:rPr>
              <a:t>Auralin Music Player  |  Dip Karmokar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Design Patterns Used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80467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94A8"/>
                </a:solidFill>
                <a:latin typeface="Calibri Light"/>
              </a:rPr>
              <a:t>Clean architecture through proven patterns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15568"/>
            <a:ext cx="11640312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0" y="6528816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94A8"/>
                </a:solidFill>
                <a:latin typeface="Calibri Light"/>
              </a:rPr>
              <a:t>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234440"/>
            <a:ext cx="5669280" cy="150876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234440"/>
            <a:ext cx="54864" cy="1508760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234440"/>
            <a:ext cx="5669280" cy="45720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37160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A2D48"/>
                </a:solidFill>
                <a:latin typeface="Calibri"/>
              </a:rPr>
              <a:t>MVC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98424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94A8"/>
                </a:solidFill>
                <a:latin typeface="Calibri Light"/>
              </a:rPr>
              <a:t>Model-View-Controller separates data, UI, and logic cleanly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234440"/>
            <a:ext cx="5669280" cy="150876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234440"/>
            <a:ext cx="54864" cy="1508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234440"/>
            <a:ext cx="56692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37160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8B5CF6"/>
                </a:solidFill>
                <a:latin typeface="Calibri"/>
              </a:rPr>
              <a:t>Observer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98424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94A8"/>
                </a:solidFill>
                <a:latin typeface="Calibri Light"/>
              </a:rPr>
              <a:t>Callbacks: onSongChange, onLikeChange, onPlayStateChange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926080"/>
            <a:ext cx="5669280" cy="150876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2926080"/>
            <a:ext cx="54864" cy="1508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2926080"/>
            <a:ext cx="566928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06324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6B6D4"/>
                </a:solidFill>
                <a:latin typeface="Calibri"/>
              </a:rPr>
              <a:t>Strategy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67588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94A8"/>
                </a:solidFill>
                <a:latin typeface="Calibri Light"/>
              </a:rPr>
              <a:t>Shuffle vs Sequential playback — swappable at runtime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926080"/>
            <a:ext cx="5669280" cy="150876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2926080"/>
            <a:ext cx="54864" cy="1508760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2926080"/>
            <a:ext cx="5669280" cy="45720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06324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A2D48"/>
                </a:solidFill>
                <a:latin typeface="Calibri"/>
              </a:rPr>
              <a:t>Facade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67588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94A8"/>
                </a:solidFill>
                <a:latin typeface="Calibri Light"/>
              </a:rPr>
              <a:t>DatabaseService hides mp3agic + MediaPlayer complexity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617720"/>
            <a:ext cx="5669280" cy="150876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4617720"/>
            <a:ext cx="54864" cy="1508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4617720"/>
            <a:ext cx="56692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75488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8B5CF6"/>
                </a:solidFill>
                <a:latin typeface="Calibri"/>
              </a:rPr>
              <a:t>Factory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36752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94A8"/>
                </a:solidFill>
                <a:latin typeface="Calibri Light"/>
              </a:rPr>
              <a:t>SongTableListener / MusicCardListener interface factories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4617720"/>
            <a:ext cx="5669280" cy="150876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4617720"/>
            <a:ext cx="54864" cy="1508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4617720"/>
            <a:ext cx="566928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475488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6B6D4"/>
                </a:solidFill>
                <a:latin typeface="Calibri"/>
              </a:rPr>
              <a:t>Singleton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36752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94A8"/>
                </a:solidFill>
                <a:latin typeface="Calibri Light"/>
              </a:rPr>
              <a:t>DatabaseService — single source of truth for all song data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" fill="hold">
                      <p:stCondLst>
                        <p:cond delay="12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" dur="5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" fill="hold">
                      <p:stCondLst>
                        <p:cond delay="240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" dur="500" fill="hold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36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500" fill="hold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48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" dur="50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60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0" dur="500" fill="hold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/>
              <p:nextCondLst>
                <p:cond evt="onNext" delay="0">
                  <p:tn val="2"/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4088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" y="6492240"/>
            <a:ext cx="12134088" cy="310896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94A8"/>
                </a:solidFill>
                <a:latin typeface="Calibri Light"/>
              </a:rPr>
              <a:t>Auralin Music Player  |  Dip Karmokar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Data Persistence &amp; 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80467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94A8"/>
                </a:solidFill>
                <a:latin typeface="Calibri Light"/>
              </a:rPr>
              <a:t>Library survives app restarts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15568"/>
            <a:ext cx="11640312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0" y="6528816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94A8"/>
                </a:solidFill>
                <a:latin typeface="Calibri Light"/>
              </a:rPr>
              <a:t>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234440"/>
            <a:ext cx="11640312" cy="91440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234440"/>
            <a:ext cx="11640312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29844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Save File:  %APPDATA%\AuralinPlayer\library.dat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6459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B6D4"/>
                </a:solidFill>
                <a:latin typeface="Courier New"/>
              </a:rPr>
              <a:t>filePath  |  liked  |  plays  |  lastPlayed  |  artist  |  durationMs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286000"/>
            <a:ext cx="5577840" cy="3977639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286000"/>
            <a:ext cx="5669280" cy="3977639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286000"/>
            <a:ext cx="5577840" cy="45720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286000"/>
            <a:ext cx="56692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35915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A2D48"/>
                </a:solidFill>
                <a:latin typeface="Calibri"/>
              </a:rPr>
              <a:t>Save Triggers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3591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5CF6"/>
                </a:solidFill>
                <a:latin typeface="Calibri"/>
              </a:rPr>
              <a:t>Load on Startup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788920"/>
            <a:ext cx="5303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FFFFFF"/>
                </a:solidFill>
                <a:latin typeface="Calibri Light"/>
              </a:rPr>
              <a:t>On song play — recordPlay()</a:t>
            </a:r>
          </a:p>
          <a:p>
            <a:pPr/>
            <a:r>
              <a:rPr sz="1500" b="0">
                <a:solidFill>
                  <a:srgbClr val="9494A8"/>
                </a:solidFill>
                <a:latin typeface="Calibri Light"/>
              </a:rPr>
              <a:t>On like toggle — saveToDisk()</a:t>
            </a:r>
          </a:p>
          <a:p>
            <a:pPr/>
            <a:r>
              <a:rPr sz="1500" b="0">
                <a:solidFill>
                  <a:srgbClr val="9494A8"/>
                </a:solidFill>
                <a:latin typeface="Calibri Light"/>
              </a:rPr>
              <a:t>On app close — stop()</a:t>
            </a:r>
          </a:p>
          <a:p>
            <a:pPr/>
            <a:r>
              <a:rPr sz="1500" b="0">
                <a:solidFill>
                  <a:srgbClr val="9494A8"/>
                </a:solidFill>
                <a:latin typeface="Calibri Light"/>
              </a:rPr>
              <a:t>Background thread — non-blocking</a:t>
            </a:r>
          </a:p>
          <a:p>
            <a:pPr/>
            <a:r>
              <a:rPr sz="1200" b="0">
                <a:solidFill>
                  <a:srgbClr val="9494A8"/>
                </a:solidFill>
                <a:latin typeface="Calibri Light"/>
              </a:rPr>
              <a:t/>
            </a:r>
          </a:p>
          <a:p>
            <a:pPr/>
            <a:r>
              <a:rPr sz="1400" b="1">
                <a:solidFill>
                  <a:srgbClr val="FA2D48"/>
                </a:solidFill>
                <a:latin typeface="Calibri"/>
              </a:rPr>
              <a:t>Why Fast?</a:t>
            </a:r>
          </a:p>
          <a:p>
            <a:pPr/>
            <a:r>
              <a:rPr sz="1400" b="0">
                <a:solidFill>
                  <a:srgbClr val="9494A8"/>
                </a:solidFill>
                <a:latin typeface="Calibri Light"/>
              </a:rPr>
              <a:t>mp3agic reads tags directly</a:t>
            </a:r>
          </a:p>
          <a:p>
            <a:pPr/>
            <a:r>
              <a:rPr sz="1400" b="0">
                <a:solidFill>
                  <a:srgbClr val="9494A8"/>
                </a:solidFill>
                <a:latin typeface="Calibri Light"/>
              </a:rPr>
              <a:t>No MediaPlayer on startup</a:t>
            </a:r>
          </a:p>
          <a:p>
            <a:pPr/>
            <a:r>
              <a:rPr sz="1400" b="0">
                <a:solidFill>
                  <a:srgbClr val="9494A8"/>
                </a:solidFill>
                <a:latin typeface="Calibri Light"/>
              </a:rPr>
              <a:t>Thread pool (3 threads)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788920"/>
            <a:ext cx="5394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FFFFFF"/>
                </a:solidFill>
                <a:latin typeface="Calibri Light"/>
              </a:rPr>
              <a:t>Read pipe-separated lines</a:t>
            </a:r>
          </a:p>
          <a:p>
            <a:pPr/>
            <a:r>
              <a:rPr sz="1500" b="0">
                <a:solidFill>
                  <a:srgbClr val="9494A8"/>
                </a:solidFill>
                <a:latin typeface="Calibri Light"/>
              </a:rPr>
              <a:t>Skip missing files automatically</a:t>
            </a:r>
          </a:p>
          <a:p>
            <a:pPr/>
            <a:r>
              <a:rPr sz="1500" b="0">
                <a:solidFill>
                  <a:srgbClr val="9494A8"/>
                </a:solidFill>
                <a:latin typeface="Calibri Light"/>
              </a:rPr>
              <a:t>Restore: liked, plays, lastPlayed</a:t>
            </a:r>
          </a:p>
          <a:p>
            <a:pPr/>
            <a:r>
              <a:rPr sz="1500" b="0">
                <a:solidFill>
                  <a:srgbClr val="9494A8"/>
                </a:solidFill>
                <a:latin typeface="Calibri Light"/>
              </a:rPr>
              <a:t>Restore: artist, durationMs</a:t>
            </a:r>
          </a:p>
          <a:p>
            <a:pPr/>
            <a:r>
              <a:rPr sz="1200" b="0">
                <a:solidFill>
                  <a:srgbClr val="9494A8"/>
                </a:solidFill>
                <a:latin typeface="Calibri Light"/>
              </a:rPr>
              <a:t/>
            </a:r>
          </a:p>
          <a:p>
            <a:pPr/>
            <a:r>
              <a:rPr sz="1400" b="1">
                <a:solidFill>
                  <a:srgbClr val="8B5CF6"/>
                </a:solidFill>
                <a:latin typeface="Calibri"/>
              </a:rPr>
              <a:t>Artwork Loading</a:t>
            </a:r>
          </a:p>
          <a:p>
            <a:pPr/>
            <a:r>
              <a:rPr sz="1400" b="0">
                <a:solidFill>
                  <a:srgbClr val="9494A8"/>
                </a:solidFill>
                <a:latin typeface="Calibri Light"/>
              </a:rPr>
              <a:t>Background thread per song</a:t>
            </a:r>
          </a:p>
          <a:p>
            <a:pPr/>
            <a:r>
              <a:rPr sz="1400" b="0">
                <a:solidFill>
                  <a:srgbClr val="9494A8"/>
                </a:solidFill>
                <a:latin typeface="Calibri Light"/>
              </a:rPr>
              <a:t>Platform.runLater for UI update</a:t>
            </a:r>
          </a:p>
          <a:p>
            <a:pPr/>
            <a:r>
              <a:rPr sz="1400" b="0">
                <a:solidFill>
                  <a:srgbClr val="9494A8"/>
                </a:solidFill>
                <a:latin typeface="Calibri Light"/>
              </a:rPr>
              <a:t>Table refreshes incrementally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" fill="hold">
                      <p:stCondLst>
                        <p:cond delay="10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" dur="5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" fill="hold">
                      <p:stCondLst>
                        <p:cond delay="200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" dur="5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30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500" fill="hold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40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" dur="500" fill="hold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/>
              <p:nextCondLst>
                <p:cond evt="onNext" delay="0">
                  <p:tn val="2"/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4088" cy="54864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" y="6492240"/>
            <a:ext cx="12134088" cy="310896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94A8"/>
                </a:solidFill>
                <a:latin typeface="Calibri Light"/>
              </a:rPr>
              <a:t>Auralin Music Player  |  Dip Karmokar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UI/UX Design 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80467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94A8"/>
                </a:solidFill>
                <a:latin typeface="Calibri Light"/>
              </a:rPr>
              <a:t>Premium dark aesthetic inspired by Spotify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15568"/>
            <a:ext cx="11640312" cy="36576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0" y="6528816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94A8"/>
                </a:solidFill>
                <a:latin typeface="Calibri Light"/>
              </a:rPr>
              <a:t>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234440"/>
            <a:ext cx="1737360" cy="1005840"/>
          </a:xfrm>
          <a:prstGeom prst="rect">
            <a:avLst/>
          </a:prstGeom>
          <a:solidFill>
            <a:srgbClr val="09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234440"/>
            <a:ext cx="173736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30428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94A8"/>
                </a:solidFill>
                <a:latin typeface="Calibri Light"/>
              </a:rPr>
              <a:t>Background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6334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3A3A50"/>
                </a:solidFill>
                <a:latin typeface="Calibri Light"/>
              </a:rPr>
              <a:t>#090909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40279" y="1234440"/>
            <a:ext cx="1737360" cy="100584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40279" y="1234440"/>
            <a:ext cx="173736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40279" y="230428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94A8"/>
                </a:solidFill>
                <a:latin typeface="Calibri Light"/>
              </a:rPr>
              <a:t>Card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79" y="26334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3A3A50"/>
                </a:solidFill>
                <a:latin typeface="Calibri Light"/>
              </a:rPr>
              <a:t>#1A1A28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1234440"/>
            <a:ext cx="1737360" cy="1005840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06240" y="1234440"/>
            <a:ext cx="173736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230428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94A8"/>
                </a:solidFill>
                <a:latin typeface="Calibri Light"/>
              </a:rPr>
              <a:t>Auralin 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26334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3A3A50"/>
                </a:solidFill>
                <a:latin typeface="Calibri Light"/>
              </a:rPr>
              <a:t>#FA2D48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199" y="1234440"/>
            <a:ext cx="1737360" cy="10058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199" y="1234440"/>
            <a:ext cx="173736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199" y="230428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94A8"/>
                </a:solidFill>
                <a:latin typeface="Calibri Light"/>
              </a:rPr>
              <a:t>Purple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199" y="26334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3A3A50"/>
                </a:solidFill>
                <a:latin typeface="Calibri Light"/>
              </a:rPr>
              <a:t>#8B5CF6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1234440"/>
            <a:ext cx="1737360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1234440"/>
            <a:ext cx="173736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0" y="230428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94A8"/>
                </a:solidFill>
                <a:latin typeface="Calibri Light"/>
              </a:rPr>
              <a:t>Cyan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26334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3A3A50"/>
                </a:solidFill>
                <a:latin typeface="Calibri Light"/>
              </a:rPr>
              <a:t>#06B6D4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04120" y="1234440"/>
            <a:ext cx="1737360" cy="10058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104120" y="1234440"/>
            <a:ext cx="173736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20" y="230428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94A8"/>
                </a:solidFill>
                <a:latin typeface="Calibri Light"/>
              </a:rPr>
              <a:t>Gray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04120" y="26334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3A3A50"/>
                </a:solidFill>
                <a:latin typeface="Calibri Light"/>
              </a:rPr>
              <a:t>#94A3B8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971800"/>
            <a:ext cx="5577840" cy="329184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2971800"/>
            <a:ext cx="5669280" cy="329184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2971800"/>
            <a:ext cx="5577840" cy="45720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2971800"/>
            <a:ext cx="56692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304495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A2D48"/>
                </a:solidFill>
                <a:latin typeface="Calibri"/>
              </a:rPr>
              <a:t>Custom Window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30449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5CF6"/>
                </a:solidFill>
                <a:latin typeface="Calibri"/>
              </a:rPr>
              <a:t>Components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456432"/>
            <a:ext cx="5212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FFFFFF"/>
                </a:solidFill>
                <a:latin typeface="Calibri Light"/>
              </a:rPr>
              <a:t>StageStyle.TRANSPARENT</a:t>
            </a:r>
          </a:p>
          <a:p>
            <a:pPr/>
            <a:r>
              <a:rPr sz="1400" b="0">
                <a:solidFill>
                  <a:srgbClr val="9494A8"/>
                </a:solidFill>
                <a:latin typeface="Calibri Light"/>
              </a:rPr>
              <a:t>Custom title bar (32px)</a:t>
            </a:r>
          </a:p>
          <a:p>
            <a:pPr/>
            <a:r>
              <a:rPr sz="1400" b="0">
                <a:solidFill>
                  <a:srgbClr val="9494A8"/>
                </a:solidFill>
                <a:latin typeface="Calibri Light"/>
              </a:rPr>
              <a:t>Win11-style min/max/close</a:t>
            </a:r>
          </a:p>
          <a:p>
            <a:pPr/>
            <a:r>
              <a:rPr sz="1400" b="0">
                <a:solidFill>
                  <a:srgbClr val="9494A8"/>
                </a:solidFill>
                <a:latin typeface="Calibri Light"/>
              </a:rPr>
              <a:t>8-edge resize handles</a:t>
            </a:r>
          </a:p>
          <a:p>
            <a:pPr/>
            <a:r>
              <a:rPr sz="1400" b="0">
                <a:solidFill>
                  <a:srgbClr val="9494A8"/>
                </a:solidFill>
                <a:latin typeface="Calibri Light"/>
              </a:rPr>
              <a:t>Rounded corners (radius 10)</a:t>
            </a:r>
          </a:p>
          <a:p>
            <a:pPr/>
            <a:r>
              <a:rPr sz="1400" b="0">
                <a:solidFill>
                  <a:srgbClr val="9494A8"/>
                </a:solidFill>
                <a:latin typeface="Calibri Light"/>
              </a:rPr>
              <a:t>Screen-aware sizing on start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3456432"/>
            <a:ext cx="5394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FFFFFF"/>
                </a:solidFill>
                <a:latin typeface="Calibri Light"/>
              </a:rPr>
              <a:t>MusicCard — 160px hover card</a:t>
            </a:r>
          </a:p>
          <a:p>
            <a:pPr/>
            <a:r>
              <a:rPr sz="1400" b="0">
                <a:solidFill>
                  <a:srgbClr val="9494A8"/>
                </a:solidFill>
                <a:latin typeface="Calibri Light"/>
              </a:rPr>
              <a:t>SongTable — custom TableView</a:t>
            </a:r>
          </a:p>
          <a:p>
            <a:pPr/>
            <a:r>
              <a:rPr sz="1400" b="0">
                <a:solidFill>
                  <a:srgbClr val="9494A8"/>
                </a:solidFill>
                <a:latin typeface="Calibri Light"/>
              </a:rPr>
              <a:t>PlayerBar — bottom fixed bar</a:t>
            </a:r>
          </a:p>
          <a:p>
            <a:pPr/>
            <a:r>
              <a:rPr sz="1400" b="0">
                <a:solidFill>
                  <a:srgbClr val="9494A8"/>
                </a:solidFill>
                <a:latin typeface="Calibri Light"/>
              </a:rPr>
              <a:t>Sidebar — navigation panel</a:t>
            </a:r>
          </a:p>
          <a:p>
            <a:pPr/>
            <a:r>
              <a:rPr sz="1400" b="0">
                <a:solidFill>
                  <a:srgbClr val="9494A8"/>
                </a:solidFill>
                <a:latin typeface="Calibri Light"/>
              </a:rPr>
              <a:t>NowPlayingView — overlay</a:t>
            </a:r>
          </a:p>
          <a:p>
            <a:pPr/>
            <a:r>
              <a:rPr sz="1400" b="0">
                <a:solidFill>
                  <a:srgbClr val="9494A8"/>
                </a:solidFill>
                <a:latin typeface="Calibri Light"/>
              </a:rPr>
              <a:t>ScrollPane hidden scrollbars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4088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" y="6492240"/>
            <a:ext cx="12134088" cy="310896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94A8"/>
                </a:solidFill>
                <a:latin typeface="Calibri Light"/>
              </a:rPr>
              <a:t>Auralin Music Player  |  Dip Karmokar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Challenges &amp;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80467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94A8"/>
                </a:solidFill>
                <a:latin typeface="Calibri Light"/>
              </a:rPr>
              <a:t>Real problems solved during development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15568"/>
            <a:ext cx="11640312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0" y="6528816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94A8"/>
                </a:solidFill>
                <a:latin typeface="Calibri Light"/>
              </a:rPr>
              <a:t>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234440"/>
            <a:ext cx="11640312" cy="896112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234440"/>
            <a:ext cx="54864" cy="896112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234440"/>
            <a:ext cx="11640312" cy="36576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325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A2D48"/>
                </a:solidFill>
                <a:latin typeface="Calibri"/>
              </a:rPr>
              <a:t>Slow startup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1325880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94A8"/>
                </a:solidFill>
                <a:latin typeface="Calibri Light"/>
              </a:rPr>
              <a:t>Cause: MediaPlayer for each song on 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325880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 Light"/>
              </a:rPr>
              <a:t>Fix: mp3agic reads tags; no MediaPlayer needed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240280"/>
            <a:ext cx="11640312" cy="896112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2240280"/>
            <a:ext cx="54864" cy="89611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2240280"/>
            <a:ext cx="11640312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331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Calibri"/>
              </a:rPr>
              <a:t>Scrollbar appearing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2331720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94A8"/>
                </a:solidFill>
                <a:latin typeface="Calibri Light"/>
              </a:rPr>
              <a:t>Cause: TableView internal ScrollPane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2331720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 Light"/>
              </a:rPr>
              <a:t>Fix: skinProperty listener hides bars post-skin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246120"/>
            <a:ext cx="11640312" cy="896112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246120"/>
            <a:ext cx="54864" cy="89611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246120"/>
            <a:ext cx="11640312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337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Calibri"/>
              </a:rPr>
              <a:t>Missing DLLs in EXE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3337560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94A8"/>
                </a:solidFill>
                <a:latin typeface="Calibri Light"/>
              </a:rPr>
              <a:t>Cause: jlink skips JavaFX native DLLs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3337560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 Light"/>
              </a:rPr>
              <a:t>Fix: Copy javafx/bin/*.dll into runtime/bin/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251960"/>
            <a:ext cx="11640312" cy="896112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4251960"/>
            <a:ext cx="54864" cy="896112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4251960"/>
            <a:ext cx="11640312" cy="36576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343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A2D48"/>
                </a:solidFill>
                <a:latin typeface="Calibri"/>
              </a:rPr>
              <a:t>Data not persisting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4343400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94A8"/>
                </a:solidFill>
                <a:latin typeface="Calibri Light"/>
              </a:rPr>
              <a:t>Cause: No save mechanism existed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4343400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 Light"/>
              </a:rPr>
              <a:t>Fix: Pipe-separated file with all metadata cached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257800"/>
            <a:ext cx="11640312" cy="896112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5257800"/>
            <a:ext cx="54864" cy="89611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5257800"/>
            <a:ext cx="11640312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349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Calibri"/>
              </a:rPr>
              <a:t>Open With missing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5349240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94A8"/>
                </a:solidFill>
                <a:latin typeface="Calibri Light"/>
              </a:rPr>
              <a:t>Cause: App not registered in Windows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5349240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 Light"/>
              </a:rPr>
              <a:t>Fix: Inno Setup registry + FriendlyAppName key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" fill="hold">
                      <p:stCondLst>
                        <p:cond delay="15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" dur="5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" fill="hold">
                      <p:stCondLst>
                        <p:cond delay="300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" dur="500" fill="hold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45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500" fill="hold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60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" dur="500" fill="hold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/>
              <p:nextCondLst>
                <p:cond evt="onNext" delay="0">
                  <p:tn val="2"/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4088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" y="6492240"/>
            <a:ext cx="12134088" cy="310896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94A8"/>
                </a:solidFill>
                <a:latin typeface="Calibri Light"/>
              </a:rPr>
              <a:t>Auralin Music Player  |  Dip Karmokar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Installer &amp;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80467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94A8"/>
                </a:solidFill>
                <a:latin typeface="Calibri Light"/>
              </a:rPr>
              <a:t>Zero-dependency Windows installer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15568"/>
            <a:ext cx="11640312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0" y="6528816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94A8"/>
                </a:solidFill>
                <a:latin typeface="Calibri Light"/>
              </a:rPr>
              <a:t>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280160"/>
            <a:ext cx="2194560" cy="201168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280160"/>
            <a:ext cx="2194560" cy="45720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246120"/>
            <a:ext cx="2194560" cy="45720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3898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A2D48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1874519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Compile Java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359152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94A8"/>
                </a:solidFill>
                <a:latin typeface="Calibri Light"/>
              </a:rPr>
              <a:t>javac -&gt; .class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79" y="20574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A3A50"/>
                </a:solidFill>
                <a:latin typeface="Calibri"/>
              </a:rPr>
              <a:t>-&gt;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1280160"/>
            <a:ext cx="2194560" cy="201168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51760" y="1280160"/>
            <a:ext cx="219456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51760" y="3246120"/>
            <a:ext cx="219456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13898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B5CF6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1874519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Fat JAR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2359152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94A8"/>
                </a:solidFill>
                <a:latin typeface="Calibri Light"/>
              </a:rPr>
              <a:t>jar + mp3agic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20574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A3A50"/>
                </a:solidFill>
                <a:latin typeface="Calibri"/>
              </a:rPr>
              <a:t>-&gt;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1280160"/>
            <a:ext cx="2194560" cy="201168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1280160"/>
            <a:ext cx="219456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0" y="3246120"/>
            <a:ext cx="219456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0" y="13898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B6D4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1874519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jlink JRE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2359152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94A8"/>
                </a:solidFill>
                <a:latin typeface="Calibri Light"/>
              </a:rPr>
              <a:t>80MB bundled JRE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20574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A3A50"/>
                </a:solidFill>
                <a:latin typeface="Calibri"/>
              </a:rPr>
              <a:t>-&gt;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06640" y="1280160"/>
            <a:ext cx="2194560" cy="201168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06640" y="1280160"/>
            <a:ext cx="2194560" cy="45720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06640" y="3246120"/>
            <a:ext cx="2194560" cy="45720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0" y="13898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A2D48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0" y="1874519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launch4j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0" y="2359152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94A8"/>
                </a:solidFill>
                <a:latin typeface="Calibri Light"/>
              </a:rPr>
              <a:t>JAR -&gt; .exe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20574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A3A50"/>
                </a:solidFill>
                <a:latin typeface="Calibri"/>
              </a:rPr>
              <a:t>-&gt;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84080" y="1280160"/>
            <a:ext cx="2194560" cy="201168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84080" y="1280160"/>
            <a:ext cx="219456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784080" y="3246120"/>
            <a:ext cx="219456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75520" y="13898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B5CF6"/>
                </a:solidFill>
                <a:latin typeface="Calibri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20" y="1874519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Inno Setup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2359152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94A8"/>
                </a:solidFill>
                <a:latin typeface="Calibri Light"/>
              </a:rPr>
              <a:t>Full installer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474720"/>
            <a:ext cx="11640312" cy="274320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4320" y="3474720"/>
            <a:ext cx="11640312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54787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  <a:latin typeface="Calibri"/>
              </a:rPr>
              <a:t>What the installer does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005072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FFFFFF"/>
                </a:solidFill>
                <a:latin typeface="Calibri Light"/>
              </a:rPr>
              <a:t>Installs AuralinPlayer.exe + bundled runtime to Program Files</a:t>
            </a:r>
          </a:p>
          <a:p>
            <a:pPr/>
            <a:r>
              <a:rPr sz="1400" b="0">
                <a:solidFill>
                  <a:srgbClr val="9494A8"/>
                </a:solidFill>
                <a:latin typeface="Calibri Light"/>
              </a:rPr>
              <a:t>Registers .mp3 Open With association in Windows registry</a:t>
            </a:r>
          </a:p>
          <a:p>
            <a:pPr/>
            <a:r>
              <a:rPr sz="1400" b="0">
                <a:solidFill>
                  <a:srgbClr val="9494A8"/>
                </a:solidFill>
                <a:latin typeface="Calibri Light"/>
              </a:rPr>
              <a:t>Creates Desktop + Start Menu shortcuts with custom icon</a:t>
            </a:r>
          </a:p>
          <a:p>
            <a:pPr/>
            <a:r>
              <a:rPr sz="1400" b="0">
                <a:solidFill>
                  <a:srgbClr val="9494A8"/>
                </a:solidFill>
                <a:latin typeface="Calibri Light"/>
              </a:rPr>
              <a:t>Includes EULA acceptance screen  |  Full uninstall support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" fill="hold">
                      <p:stCondLst>
                        <p:cond delay="18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" dur="50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" fill="hold">
                      <p:stCondLst>
                        <p:cond delay="360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" dur="500" fill="hold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54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50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72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" dur="500" fill="hold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0" dur="500" fill="hold"/>
                                  <p:tgtEl>
                                    <p:spTgt spid="4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/>
              <p:nextCondLst>
                <p:cond evt="onNext" delay="0">
                  <p:tn val="2"/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4088" cy="54864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" y="6492240"/>
            <a:ext cx="12134088" cy="310896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94A8"/>
                </a:solidFill>
                <a:latin typeface="Calibri Light"/>
              </a:rPr>
              <a:t>Auralin Music Player  |  Dip Karmokar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80467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94A8"/>
                </a:solidFill>
                <a:latin typeface="Calibri Light"/>
              </a:rPr>
              <a:t>What was achieved and what comes next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15568"/>
            <a:ext cx="11640312" cy="36576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0" y="6528816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94A8"/>
                </a:solidFill>
                <a:latin typeface="Calibri Light"/>
              </a:rPr>
              <a:t>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234440"/>
            <a:ext cx="5577840" cy="502920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5669280" cy="502920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234440"/>
            <a:ext cx="5577840" cy="45720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56692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3258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A2D48"/>
                </a:solidFill>
                <a:latin typeface="Calibri"/>
              </a:rPr>
              <a:t>Achievements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3258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5CF6"/>
                </a:solidFill>
                <a:latin typeface="Calibri"/>
              </a:rPr>
              <a:t>Future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78308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FFFFFF"/>
                </a:solidFill>
                <a:latin typeface="Calibri Light"/>
              </a:rPr>
              <a:t>Full-featured music player</a:t>
            </a:r>
          </a:p>
          <a:p>
            <a:pPr/>
            <a:r>
              <a:rPr sz="1500" b="0">
                <a:solidFill>
                  <a:srgbClr val="9494A8"/>
                </a:solidFill>
                <a:latin typeface="Calibri Light"/>
              </a:rPr>
              <a:t>Modern Spotify-inspired dark UI</a:t>
            </a:r>
          </a:p>
          <a:p>
            <a:pPr/>
            <a:r>
              <a:rPr sz="1500" b="0">
                <a:solidFill>
                  <a:srgbClr val="9494A8"/>
                </a:solidFill>
                <a:latin typeface="Calibri Light"/>
              </a:rPr>
              <a:t>MVC architecture with patterns</a:t>
            </a:r>
          </a:p>
          <a:p>
            <a:pPr/>
            <a:r>
              <a:rPr sz="1500" b="0">
                <a:solidFill>
                  <a:srgbClr val="9494A8"/>
                </a:solidFill>
                <a:latin typeface="Calibri Light"/>
              </a:rPr>
              <a:t>Persistent library — fast startup</a:t>
            </a:r>
          </a:p>
          <a:p>
            <a:pPr/>
            <a:r>
              <a:rPr sz="1500" b="0">
                <a:solidFill>
                  <a:srgbClr val="9494A8"/>
                </a:solidFill>
                <a:latin typeface="Calibri Light"/>
              </a:rPr>
              <a:t>Bundled JRE installer</a:t>
            </a:r>
          </a:p>
          <a:p>
            <a:pPr/>
            <a:r>
              <a:rPr sz="1500" b="0">
                <a:solidFill>
                  <a:srgbClr val="9494A8"/>
                </a:solidFill>
                <a:latin typeface="Calibri Light"/>
              </a:rPr>
              <a:t>Open With MP3 registration</a:t>
            </a:r>
          </a:p>
          <a:p>
            <a:pPr/>
            <a:r>
              <a:rPr sz="1500" b="0">
                <a:solidFill>
                  <a:srgbClr val="9494A8"/>
                </a:solidFill>
                <a:latin typeface="Calibri Light"/>
              </a:rPr>
              <a:t>Custom frameless Win11 window</a:t>
            </a:r>
          </a:p>
          <a:p>
            <a:pPr/>
            <a:r>
              <a:rPr sz="1500" b="0">
                <a:solidFill>
                  <a:srgbClr val="9494A8"/>
                </a:solidFill>
                <a:latin typeface="Calibri Light"/>
              </a:rPr>
              <a:t>Background metadata loading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78308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FFFFFF"/>
                </a:solidFill>
                <a:latin typeface="Calibri Light"/>
              </a:rPr>
              <a:t>Equalizer &amp; audio effects</a:t>
            </a:r>
          </a:p>
          <a:p>
            <a:pPr/>
            <a:r>
              <a:rPr sz="1500" b="0">
                <a:solidFill>
                  <a:srgbClr val="9494A8"/>
                </a:solidFill>
                <a:latin typeface="Calibri Light"/>
              </a:rPr>
              <a:t>Online streaming integration</a:t>
            </a:r>
          </a:p>
          <a:p>
            <a:pPr/>
            <a:r>
              <a:rPr sz="1500" b="0">
                <a:solidFill>
                  <a:srgbClr val="9494A8"/>
                </a:solidFill>
                <a:latin typeface="Calibri Light"/>
              </a:rPr>
              <a:t>Playlist &amp; queue management</a:t>
            </a:r>
          </a:p>
          <a:p>
            <a:pPr/>
            <a:r>
              <a:rPr sz="1500" b="0">
                <a:solidFill>
                  <a:srgbClr val="9494A8"/>
                </a:solidFill>
                <a:latin typeface="Calibri Light"/>
              </a:rPr>
              <a:t>Cross-platform Linux/macOS</a:t>
            </a:r>
          </a:p>
          <a:p>
            <a:pPr/>
            <a:r>
              <a:rPr sz="1500" b="0">
                <a:solidFill>
                  <a:srgbClr val="9494A8"/>
                </a:solidFill>
                <a:latin typeface="Calibri Light"/>
              </a:rPr>
              <a:t>Album &amp; artist grouping</a:t>
            </a:r>
          </a:p>
          <a:p>
            <a:pPr/>
            <a:r>
              <a:rPr sz="1500" b="0">
                <a:solidFill>
                  <a:srgbClr val="9494A8"/>
                </a:solidFill>
                <a:latin typeface="Calibri Light"/>
              </a:rPr>
              <a:t>Lyrics display integration</a:t>
            </a:r>
          </a:p>
          <a:p>
            <a:pPr/>
            <a:r>
              <a:rPr sz="1500" b="0">
                <a:solidFill>
                  <a:srgbClr val="9494A8"/>
                </a:solidFill>
                <a:latin typeface="Calibri Light"/>
              </a:rPr>
              <a:t>Mini player mode</a:t>
            </a:r>
          </a:p>
          <a:p>
            <a:pPr/>
            <a:r>
              <a:rPr sz="1500" b="0">
                <a:solidFill>
                  <a:srgbClr val="9494A8"/>
                </a:solidFill>
                <a:latin typeface="Calibri Light"/>
              </a:rPr>
              <a:t>Cloud sync for library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" fill="hold">
                      <p:stCondLst>
                        <p:cond delay="10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" dur="5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" fill="hold">
                      <p:stCondLst>
                        <p:cond delay="200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" dur="5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30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50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/>
              <p:nextCondLst>
                <p:cond evt="onNext" delay="0">
                  <p:tn val="2"/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4088" cy="54864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0" y="822960"/>
            <a:ext cx="5788152" cy="521208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822960"/>
            <a:ext cx="5788152" cy="54864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0" y="5980176"/>
            <a:ext cx="5788152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0" y="822960"/>
            <a:ext cx="54864" cy="5212080"/>
          </a:xfrm>
          <a:prstGeom prst="rect">
            <a:avLst/>
          </a:prstGeom>
          <a:solidFill>
            <a:srgbClr val="FA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33688" y="822960"/>
            <a:ext cx="54864" cy="5212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00584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FA2D48"/>
                </a:solidFill>
                <a:latin typeface="Calibri"/>
              </a:rPr>
              <a:t>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383280"/>
            <a:ext cx="54223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Thank You!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4434840"/>
            <a:ext cx="3959352" cy="36576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4553712"/>
            <a:ext cx="48737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9494A8"/>
                </a:solidFill>
                <a:latin typeface="Calibri Light"/>
              </a:rPr>
              <a:t>Auralin Music Player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5120640"/>
            <a:ext cx="5422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94A8"/>
                </a:solidFill>
                <a:latin typeface="Calibri Light"/>
              </a:rPr>
              <a:t>Dip Karmokar   |   OOP Project   |  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035040"/>
            <a:ext cx="12188952" cy="768096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035040"/>
            <a:ext cx="12188952" cy="45720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12648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9494A8"/>
                </a:solidFill>
                <a:latin typeface="Calibri Light"/>
              </a:rPr>
              <a:t>Questions? Let's discuss!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" fill="hold">
                      <p:stCondLst>
                        <p:cond delay="20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" dur="5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" fill="hold">
                      <p:stCondLst>
                        <p:cond delay="400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" dur="5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60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5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/>
              <p:nextCondLst>
                <p:cond evt="onNext" delay="0">
                  <p:tn val="2"/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